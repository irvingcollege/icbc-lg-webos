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1" r:id="rId20"/>
    <p:sldId id="267" r:id="rId15"/>
    <p:sldId id="268" r:id="rId16"/>
    <p:sldId id="269" r:id="rId17"/>
    <p:sldId id="270" r:id="rId18"/>
    <p:sldId id="272" r:id="rId21"/>
  </p:sldIdLst>
  <p:sldSz cx="9907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slide" Target="slides/slide16.xml"/><Relationship Id="rId2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"/>
          </p:nvPr>
        </p:nvSpPr>
        <p:spPr>
          <a:xfrm>
            <a:off x="38840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Img"/>
          </p:nvPr>
        </p:nvSpPr>
        <p:spPr>
          <a:xfrm>
            <a:off x="951840" y="685440"/>
            <a:ext cx="495324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2"/>
          </p:nvPr>
        </p:nvSpPr>
        <p:spPr>
          <a:xfrm>
            <a:off x="-360" y="86850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3"/>
          </p:nvPr>
        </p:nvSpPr>
        <p:spPr>
          <a:xfrm>
            <a:off x="3884040" y="86850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0AFE76B-87BC-4557-B182-B839AB34325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ko-KR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11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288A731-975E-4268-8344-A71297CFE2D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14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03C839-9DC8-40A1-9808-3DDCDDA413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17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9F60DDB-0BF5-4DE0-9F63-5FA8D6525B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7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25AFB37-3307-4478-A887-6B8AF6B22D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20" name="Text Box 2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21" name="Text Box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9CC1C7-6E11-45AD-9E7A-19B0CFAF2D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24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B47957-FCF3-4429-AEF9-61620DFF26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27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1F20E5-BF97-4046-BA38-B6CBB43495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30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B8EEBAD-548A-481F-B459-0CFB124058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33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E58D5B-829D-48D4-B24F-998D983B87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7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2938AF6-185F-4E0F-AA82-FAA4A2F8D45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36" name="Text Box 2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37" name="Text Box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BBF0DD-28E2-4A7E-B20F-656F2A331F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40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56DB775-494C-42CC-A01F-D90AA5CBC6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43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612D65-A1CE-427D-A6F6-F46E27B2459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46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38924A5-E4A8-4C47-A857-949940FD66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49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4A50FB-5720-4EBE-AC8A-0913659F30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52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BCE622F-7B1C-46D8-B113-C2E3BDAC872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952200" y="685800"/>
            <a:ext cx="4953240" cy="34290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155" name="슬라이드 번호 개체 틀 3"/>
          <p:cNvSpPr/>
          <p:nvPr/>
        </p:nvSpPr>
        <p:spPr>
          <a:xfrm>
            <a:off x="3884400" y="8685000"/>
            <a:ext cx="29718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B5DB0C-4376-4A7C-981B-96C35D843C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/>
          <p:cNvPicPr/>
          <p:nvPr/>
        </p:nvPicPr>
        <p:blipFill>
          <a:blip r:embed="rId2"/>
          <a:stretch/>
        </p:blipFill>
        <p:spPr>
          <a:xfrm>
            <a:off x="8192880" y="115560"/>
            <a:ext cx="1593720" cy="4604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3" name="Line 5"/>
          <p:cNvSpPr/>
          <p:nvPr/>
        </p:nvSpPr>
        <p:spPr>
          <a:xfrm>
            <a:off x="288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4" name="Line 6"/>
          <p:cNvSpPr/>
          <p:nvPr/>
        </p:nvSpPr>
        <p:spPr>
          <a:xfrm>
            <a:off x="288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5" name="Line 5"/>
          <p:cNvSpPr/>
          <p:nvPr/>
        </p:nvSpPr>
        <p:spPr>
          <a:xfrm>
            <a:off x="288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6" name="Line 6"/>
          <p:cNvSpPr/>
          <p:nvPr/>
        </p:nvSpPr>
        <p:spPr>
          <a:xfrm>
            <a:off x="1440" y="6343560"/>
            <a:ext cx="990108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7" name="MSIPCMContentMarking" descr="{&quot;HashCode&quot;:-1860332160,&quot;Placement&quot;:&quot;Header&quot;,&quot;Top&quot;:0.0,&quot;Left&quot;:323.954651,&quot;SlideWidth&quot;:780,&quot;SlideHeight&quot;:540}"/>
          <p:cNvSpPr/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LGE Internal Use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4449600" y="6524280"/>
            <a:ext cx="1006560" cy="204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10000"/>
              </a:lnSpc>
              <a:spcBef>
                <a:spcPts val="312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EEC471-43B1-48EA-828B-5EECA46975DE}" type="slidenum">
              <a:rPr lang="ko-KR" sz="1000" b="0" u="none" strike="noStrike">
                <a:solidFill>
                  <a:srgbClr val="7F7F7F"/>
                </a:solidFill>
                <a:effectLst/>
                <a:uFillTx/>
                <a:latin typeface="맑은 고딕"/>
                <a:ea typeface="맑은 고딕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6"/>
          <p:cNvPicPr/>
          <p:nvPr/>
        </p:nvPicPr>
        <p:blipFill>
          <a:blip r:embed="rId2"/>
          <a:stretch/>
        </p:blipFill>
        <p:spPr>
          <a:xfrm>
            <a:off x="8192880" y="115560"/>
            <a:ext cx="1593720" cy="4604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" name="Line 5"/>
          <p:cNvSpPr/>
          <p:nvPr/>
        </p:nvSpPr>
        <p:spPr>
          <a:xfrm>
            <a:off x="288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1" name="Line 6"/>
          <p:cNvSpPr/>
          <p:nvPr/>
        </p:nvSpPr>
        <p:spPr>
          <a:xfrm>
            <a:off x="288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2" name="Line 5"/>
          <p:cNvSpPr/>
          <p:nvPr/>
        </p:nvSpPr>
        <p:spPr>
          <a:xfrm>
            <a:off x="288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3" name="Line 6"/>
          <p:cNvSpPr/>
          <p:nvPr/>
        </p:nvSpPr>
        <p:spPr>
          <a:xfrm>
            <a:off x="1440" y="6343560"/>
            <a:ext cx="990108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4" name="MSIPCMContentMarking" descr="{&quot;HashCode&quot;:-1860332160,&quot;Placement&quot;:&quot;Header&quot;,&quot;Top&quot;:0.0,&quot;Left&quot;:323.954651,&quot;SlideWidth&quot;:780,&quot;SlideHeight&quot;:540}"/>
          <p:cNvSpPr/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LGE Internal Use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4449600" y="6524280"/>
            <a:ext cx="1006560" cy="204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10000"/>
              </a:lnSpc>
              <a:spcBef>
                <a:spcPts val="312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8484A4-B1F6-45A3-96D1-2739CE6A6192}" type="slidenum">
              <a:rPr lang="ko-KR" sz="1000" b="0" u="none" strike="noStrike">
                <a:solidFill>
                  <a:srgbClr val="7F7F7F"/>
                </a:solidFill>
                <a:effectLst/>
                <a:uFillTx/>
                <a:latin typeface="맑은 고딕"/>
                <a:ea typeface="맑은 고딕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SIPCMContentMarking" descr="{&quot;HashCode&quot;:-1860332160,&quot;Placement&quot;:&quot;Header&quot;,&quot;Top&quot;:0.0,&quot;Left&quot;:323.954651,&quot;SlideWidth&quot;:780,&quot;SlideHeight&quot;:540}"/>
          <p:cNvSpPr/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LGE Internal Use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7" name="직사각형 2"/>
          <p:cNvSpPr/>
          <p:nvPr/>
        </p:nvSpPr>
        <p:spPr>
          <a:xfrm>
            <a:off x="2880" y="1773000"/>
            <a:ext cx="9899640" cy="71640"/>
          </a:xfrm>
          <a:prstGeom prst="rect">
            <a:avLst/>
          </a:prstGeom>
          <a:solidFill>
            <a:srgbClr val="D9D9D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8" name="직사각형 3"/>
          <p:cNvSpPr/>
          <p:nvPr/>
        </p:nvSpPr>
        <p:spPr>
          <a:xfrm>
            <a:off x="2880" y="1844640"/>
            <a:ext cx="9899640" cy="144360"/>
          </a:xfrm>
          <a:prstGeom prst="rect">
            <a:avLst/>
          </a:prstGeom>
          <a:solidFill>
            <a:srgbClr val="BFBFB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pic>
        <p:nvPicPr>
          <p:cNvPr id="19" name="그림 3"/>
          <p:cNvPicPr/>
          <p:nvPr/>
        </p:nvPicPr>
        <p:blipFill>
          <a:blip r:embed="rId2"/>
          <a:stretch/>
        </p:blipFill>
        <p:spPr>
          <a:xfrm>
            <a:off x="8192880" y="77760"/>
            <a:ext cx="1593720" cy="460080"/>
          </a:xfrm>
          <a:prstGeom prst="rect">
            <a:avLst/>
          </a:prstGeom>
          <a:noFill/>
          <a:ln w="38160">
            <a:noFill/>
          </a:ln>
        </p:spPr>
      </p:pic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10312"/>
            <a:ext cx="73152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020"/>
                </a:solidFill>
                <a:latin typeface="Arial"/>
              </a:defRPr>
            </a:pPr>
            <a:r>
              <a:t>UX Scenario Document File Version 4.4 — completed for ICBC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932688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202020"/>
                </a:solidFill>
                <a:latin typeface="Arial"/>
              </a:defRPr>
            </a:pPr>
            <a:r>
              <a:t>Irving College Baptist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8778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LG webOS TV • App 1.0.1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Launcher: Irving College 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74720"/>
            <a:ext cx="86868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02020"/>
                </a:solidFill>
                <a:latin typeface="Arial"/>
              </a:defRPr>
            </a:pPr>
            <a:r>
              <a:t>Prepared October 20, 2026. Not a statement of LG certification.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02020"/>
                </a:solidFill>
                <a:latin typeface="Arial"/>
              </a:defRPr>
            </a:pPr>
            <a:r>
              <a:t>Browser evidence is labeled; physical LG TV behavior remains unverified.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0" y="4690872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 field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Submission Date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Not yet submitted; prepared 2026 / 10 / 20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 Ver.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1.0.1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 Developer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Irving College Baptist Church</a:t>
                      </a:r>
                    </a:p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icbcnextsteps@gmail.com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7863840" cy="4572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1. Basic Information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2. Document History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3. Page Description / Live Playback Controls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4. Detailed Login Information — Not Applicable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5. Main Page Description — Home and Library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6. Sub Page Description — Flow, Privacy, Archive, Exit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7. Paid Content — Not Applicable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8. In-App Ad — Not Applicable</a:t>
            </a:r>
          </a:p>
          <a:p>
            <a:pPr>
              <a:spcAft>
                <a:spcPts val="500"/>
              </a:spcAft>
              <a:defRPr sz="1900" b="0">
                <a:solidFill>
                  <a:srgbClr val="202020"/>
                </a:solidFill>
                <a:latin typeface="Arial"/>
              </a:defRPr>
            </a:pPr>
            <a:r>
              <a:t>Appendix — Review window, evidence and unresolved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1. Basic Information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" y="704088"/>
          <a:ext cx="96012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828800"/>
                <a:gridCol w="7059168"/>
              </a:tblGrid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Area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by Developer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 Title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Irving College Baptist Church; launcher: Irving College BC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Life / Religion (selected by church)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File Type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Web — packaged HTML5 application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Optimized Resolution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1920 x 1080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Service Area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United States only (requested storefront territory)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Service Language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English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Geo-IP Block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No geo-IP blocking implemented in app; hosting restrictions not independently audited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SDK / Tooling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webOS TV Web app; official CLI 3.2.6. Exact launch-platform / SDK selection must match Seller Lounge.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In-App Ad / Paid Content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Neither; no advertising, login, purchase or subscription flow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Sound (Game Type)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Not a game. Sermon speech/audio; music excluded by church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Service URL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Packaged IPK, not a hosted app URL. Media: https://live.irvingcollege.church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Test URL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No separate test URL or activation. Use the uploaded 1.0.1 IPK and archive route.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Service Platform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webOS TV. Individual chipsets: All for Web, per portal instruction.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App ID / Contact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church.irvingcollege.icbc | icbcnextsteps@gmail.com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2. 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6868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828800"/>
                <a:gridCol w="1005840"/>
                <a:gridCol w="2926080"/>
                <a:gridCol w="3291840"/>
              </a:tblGrid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Prepared / Sent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 Version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Contents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20 Oct 2026 / not submitted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1.0.1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ICBC-LG-UX-Scenario-v4.4-1.0.1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Completed LG v4.4 template; screenshots, controls, N/A sections, and honest test scope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154680"/>
            <a:ext cx="9052560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020"/>
                </a:solidFill>
                <a:latin typeface="Arial"/>
              </a:defRPr>
            </a:pPr>
            <a:r>
              <a:t>Reference: separate icbc-lg-webos project. Samsung app and production streaming server unchanged.</a:t>
            </a:r>
          </a:p>
          <a:p>
            <a:pPr>
              <a:spcAft>
                <a:spcPts val="500"/>
              </a:spcAft>
              <a:defRPr sz="1700" b="0">
                <a:solidFill>
                  <a:srgbClr val="202020"/>
                </a:solidFill>
                <a:latin typeface="Arial"/>
              </a:defRPr>
            </a:pPr>
            <a:r>
              <a:t>The church reported a successful visual launch of the earlier 1.0.0 build in Mac webOS26 Simulator. This does not establish playback or physical TV compatibility.</a:t>
            </a:r>
          </a:p>
          <a:p>
            <a:pPr>
              <a:spcAft>
                <a:spcPts val="500"/>
              </a:spcAft>
              <a:defRPr sz="1700" b="0">
                <a:solidFill>
                  <a:srgbClr val="202020"/>
                </a:solidFill>
                <a:latin typeface="Arial"/>
              </a:defRPr>
            </a:pPr>
            <a:r>
              <a:t>Version 1.0.1 adds a branded splash and a local Privacy &amp; Support screen; 30 automated tests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4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3.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Live player and recovery controls</a:t>
            </a:r>
          </a:p>
        </p:txBody>
      </p:sp>
      <p:pic>
        <p:nvPicPr>
          <p:cNvPr id="4" name="Picture 3" descr="live-play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48138" y="424957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941238" y="424957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807310" y="424957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673382" y="424957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223909" y="424957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708660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Pause / Play: toggle playback when available.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Rewind: disabled for livestream.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Fast-forward: disabled for livestream.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Retry: reconnect the selected stream.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Back to Home: close media and restore home focus.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Captured in Chromium with a deliberately aborted media request. This is the actual error UI, not proof the production stream is offline.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Only Sunday worship is streamed, starting 10:30 AM U.S. Central Time (America/Chicago). Duration varies.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For unavailable or stalled playback, the app shows a recovery message. Retry uses the same URL; no sign-in is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4. Detailed Login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9611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B0003A"/>
                </a:solidFill>
                <a:latin typeface="Arial"/>
              </a:defRPr>
            </a:pPr>
            <a:r>
              <a:t>Not Applicable — no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8961120" cy="2834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All catalog and playback controls are available without an account.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No test IDs, passwords, activation codes or device registration are required.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Internet access is required to request the church catalog and media.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Use recorded sermons for review outside the Sunday broadcast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This section is not applicable to the actual app; no sample credentials, payment data or advertising examples are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5. Main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1. Home / entry page</a:t>
            </a:r>
          </a:p>
        </p:txBody>
      </p:sp>
      <p:pic>
        <p:nvPicPr>
          <p:cNvPr id="4" name="Picture 3" descr="hom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06812" y="278719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435097" y="2787198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336381" y="3564800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119964" y="4690779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850392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Watch Live: opens the church livestream.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Browse Sermons: scrolls to the archive and focuses the first sermon.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Refresh: reloads the catalog; keeps prior entries if request fails.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Privacy &amp; Support: opens the local policy/contact screen.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The page shows church branding, service times and sermon cards. The original Samsung visual design and content URLs are retained.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Arrows move focus; OK activates. Pointer movement focuses controls; click activates. The wheel scrolls naturally.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Screenshot uses an authentic production catalog snapshot through request interception, so it does not verify production CORS.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5. Main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2. Recorded sermon library</a:t>
            </a:r>
          </a:p>
        </p:txBody>
      </p:sp>
      <p:pic>
        <p:nvPicPr>
          <p:cNvPr id="4" name="Picture 3" descr="library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06812" y="3755662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575286" y="3755662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336381" y="339244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1062990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First sermon card: select to open its video.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Second sermon card: select to open its video.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Refresh: request the latest server catalog.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The server controls catalog order. Longer catalogs scroll; titles and metadata are inserted as text.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Back from a scrolled library returns to the home position and Watch Live focus. Playback Back restores the selected sermon card.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The two displayed records come from the captured production catalog. No production sermon playback was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58368"/>
            <a:ext cx="9144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02020"/>
                </a:solidFill>
                <a:latin typeface="Arial"/>
              </a:defRPr>
            </a:pPr>
            <a:r>
              <a:t>1. Navigation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188720"/>
            <a:ext cx="2286000" cy="731520"/>
          </a:xfrm>
          <a:prstGeom prst="roundRect">
            <a:avLst/>
          </a:prstGeom>
          <a:solidFill>
            <a:srgbClr val="244B47"/>
          </a:solidFill>
          <a:ln>
            <a:solidFill>
              <a:srgbClr val="DFB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Home / entry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371600" y="1920240"/>
            <a:ext cx="3520440" cy="64008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2560320"/>
            <a:ext cx="1920240" cy="914400"/>
          </a:xfrm>
          <a:prstGeom prst="roundRect">
            <a:avLst/>
          </a:prstGeom>
          <a:solidFill>
            <a:srgbClr val="244B47"/>
          </a:solidFill>
          <a:ln>
            <a:solidFill>
              <a:srgbClr val="DFB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Watch Live</a:t>
            </a:r>
          </a:p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Live player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749039" y="1920240"/>
            <a:ext cx="1143001" cy="64008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560320"/>
            <a:ext cx="1920240" cy="914400"/>
          </a:xfrm>
          <a:prstGeom prst="roundRect">
            <a:avLst/>
          </a:prstGeom>
          <a:solidFill>
            <a:srgbClr val="244B47"/>
          </a:solidFill>
          <a:ln>
            <a:solidFill>
              <a:srgbClr val="DFB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Browse Sermons</a:t>
            </a:r>
          </a:p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Archive player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2040" y="1920240"/>
            <a:ext cx="1234440" cy="64008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2560320"/>
            <a:ext cx="1920240" cy="914400"/>
          </a:xfrm>
          <a:prstGeom prst="roundRect">
            <a:avLst/>
          </a:prstGeom>
          <a:solidFill>
            <a:srgbClr val="244B47"/>
          </a:solidFill>
          <a:ln>
            <a:solidFill>
              <a:srgbClr val="DFB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Privacy &amp; Support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1920240"/>
            <a:ext cx="3611880" cy="64008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2560320"/>
            <a:ext cx="1920240" cy="914400"/>
          </a:xfrm>
          <a:prstGeom prst="roundRect">
            <a:avLst/>
          </a:prstGeom>
          <a:solidFill>
            <a:srgbClr val="244B47"/>
          </a:solidFill>
          <a:ln>
            <a:solidFill>
              <a:srgbClr val="DFB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Back</a:t>
            </a:r>
          </a:p>
          <a:p>
            <a:pPr algn="ctr">
              <a:defRPr sz="1500">
                <a:solidFill>
                  <a:srgbClr val="FFFFFF"/>
                </a:solidFill>
                <a:latin typeface="Arial"/>
              </a:defRPr>
            </a:pPr>
            <a:r>
              <a:t>Stay /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896112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02020"/>
                </a:solidFill>
                <a:latin typeface="Arial"/>
              </a:defRPr>
            </a:pPr>
            <a:r>
              <a:t>Player → Back / Stop → Home with restored focus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202020"/>
                </a:solidFill>
                <a:latin typeface="Arial"/>
              </a:defRPr>
            </a:pPr>
            <a:r>
              <a:t>Privacy → Back → Home | Exit dialog → Stay →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No account or purchase route exists. Retry reopens the selected media; Refresh requests the catalog again.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At entry this candidate uses a custom exit confirmation. Confirm model-specific LG Back requirements before final submission.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9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2. Privacy &amp; Support</a:t>
            </a:r>
          </a:p>
        </p:txBody>
      </p:sp>
      <p:pic>
        <p:nvPicPr>
          <p:cNvPr id="4" name="Picture 3" descr="privacy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06812" y="1198530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06812" y="4354664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1417320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Back to Home: return to the home footer control.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Bottom Back to Home: same return action after reading the notice.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Support and privacy contact: icbcnextsteps@gmail.com. The church confirms no retained visitor/IP access logs.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Ordinary network data is processed transiently to deliver content. No ads, analytics, accounts or viewing-history storage are implemented.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Remote Back returns home and restores focus. The public policy is in the repository at docs/privacy-policy.md.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3. Archive player and recovery</a:t>
            </a:r>
          </a:p>
        </p:txBody>
      </p:sp>
      <p:pic>
        <p:nvPicPr>
          <p:cNvPr id="4" name="Picture 3" descr="archive-play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48138" y="440726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941238" y="440726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807310" y="440726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673382" y="440726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223909" y="440726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708660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Pause / Play: toggle the recorded video.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Rewind: seek back 30 seconds.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Fast-forward: seek ahead 30 seconds.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Retry: reopen the selected sermon URL.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Back to Home: release media and restore the sermon card.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Captured with a controlled aborted media request to show recovery and available archive controls. It is not successful production playback.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Dedicated media keys are supported where available; visible buttons provide the same functions. Stop returns home.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Actual MP4 playback, audio, seek ranges, end/replay and network recovery remain physical-device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7. Paid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9611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B0003A"/>
                </a:solidFill>
                <a:latin typeface="Arial"/>
              </a:defRPr>
            </a:pPr>
            <a:r>
              <a:t>Not Applicable — free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8961120" cy="2834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app has no purchases, paid subscriptions, vouchers, billing SDK or payment method.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No credit-card or payment test data is required for QA.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No separate payment or account activation is required on the church website to use the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This section is not applicable to the actual app; no sample credentials, payment data or advertising examples are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8. In-App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9611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B0003A"/>
                </a:solidFill>
                <a:latin typeface="Arial"/>
              </a:defRPr>
            </a:pPr>
            <a:r>
              <a:t>1. Banner advertising — Not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8961120" cy="2834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application has no banner advertising, ad slots or advertising SDK.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church confirms music is excluded from its broadcasts for rights reasons.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No advertisement test account or ad-fill configuration is applicable.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This section is not applicable to the actual app; no sample credentials, payment data or advertising examples are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8. In-App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9611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B0003A"/>
                </a:solidFill>
                <a:latin typeface="Arial"/>
              </a:defRPr>
            </a:pPr>
            <a:r>
              <a:t>2. Video advertising — Not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8961120" cy="2834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app has no preroll, midroll, postroll, rewarded ads or video advertising integration.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Video is requested from the church’s HTTPS media host.</a:t>
            </a:r>
          </a:p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HLS.js is bundled locally for playback fallback; it is not an advertising or analytics SDK.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This section is not applicable to the actual app; no sample credentials, payment data or advertising examples are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[Appendix] Reviewer availability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41832"/>
            <a:ext cx="9144000" cy="5303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Broadcast: Sunday worship only, starting 10:30 AM U.S. Central Time. The ending time varies; use archives outside this window.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Contact: icbcnextsteps@gmail.com | Territory: United States only | Language: English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Catalog: https://live.irvingcollege.church/sermons/catalog.json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Live HLS: https://live.irvingcollege.church/hls/stream.m3u8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30 automated tests pass. HTML video/HLS fixtures and adapter mocks are tested; these are not physical LG TV results.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All document screenshots are Chromium captures of app 1.0.1. Catalog bytes are a real snapshot; player images deliberately exercise error UI. No synthetic video is depicted as church content.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Church representative confirms sermon distribution rights, music exclusion and no visitor/IP log retention. Full content/rating questionnaire remains the publisher’s responsibility.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6. Sub Page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4008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2020"/>
                </a:solidFill>
                <a:latin typeface="Arial"/>
              </a:defRPr>
            </a:pPr>
            <a:r>
              <a:t>4. Entry-page exit confirmation</a:t>
            </a:r>
          </a:p>
        </p:txBody>
      </p:sp>
      <p:pic>
        <p:nvPicPr>
          <p:cNvPr id="4" name="Picture 3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978408"/>
            <a:ext cx="7040880" cy="39604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970648" y="305793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491495" y="3057935"/>
            <a:ext cx="228600" cy="228600"/>
          </a:xfrm>
          <a:prstGeom prst="ellipse">
            <a:avLst/>
          </a:prstGeom>
          <a:solidFill>
            <a:srgbClr val="B00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60336" y="640080"/>
          <a:ext cx="25877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2295144"/>
              </a:tblGrid>
              <a:tr h="1417320">
                <a:tc gridSpan="2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54864" marR="54864" marT="36576" marB="18288" anchor="ctr">
                    <a:solidFill>
                      <a:srgbClr val="009E00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Stay: dismiss the dialog and restore Watch Live focus.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Exit App: request closure using the webOS runtime.</a:t>
                      </a:r>
                    </a:p>
                  </a:txBody>
                  <a:tcPr marL="54864" marR="54864" marT="36576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" y="5010912"/>
            <a:ext cx="9820656" cy="1271016"/>
          </a:xfrm>
          <a:prstGeom prst="rect">
            <a:avLst/>
          </a:prstGeom>
          <a:solidFill>
            <a:srgbClr val="EEEEEE"/>
          </a:solidFill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Detailed Information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Back from the home entry page opens this candidate’s custom confirmation. The backdrop blocks underlying pointer controls.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Back dismisses the dialog; arrow keys are scoped to it. Native window closure is not proven by browser tests.</a:t>
            </a:r>
          </a:p>
          <a:p>
            <a:pPr>
              <a:spcAft>
                <a:spcPts val="500"/>
              </a:spcAft>
              <a:defRPr sz="1100" b="0">
                <a:solidFill>
                  <a:srgbClr val="202020"/>
                </a:solidFill>
                <a:latin typeface="Arial"/>
              </a:defRPr>
            </a:pPr>
            <a:r>
              <a:t>Review the webOS23–25 Home requirement in LG’s current self-checklist alongside its general Back guide before selecting those model groups.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8229600" cy="3931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020"/>
                </a:solidFill>
                <a:latin typeface="Arial"/>
              </a:defRPr>
            </a:pPr>
            <a:r>
              <a:t>[Appendix] Remaining validation before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9144000" cy="5394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Physical LG TV testing has not been performed: native live/archived playback, remote hardware, TV exit and lifecycle still need validation.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Production catalog CORS remains open: the read-only catalog response lacked Access-Control-Allow-Origin. No production server configuration was changed.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Recheck the updated 1.0.1 build in the Mac simulator; only the earlier build’s appearance was reported by the church.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Confirm Seller Lounge launch-platform / SDK selection and target models. The app is a Web package, not a chipset-specific native binary.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Transfer actual results into LG’s official self-checklist. This UX scenario is not that separate form.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Public policy: https://github.com/irvingcollege/icbc-lg-webos/blob/main/docs/privacy-policy.md</a:t>
            </a:r>
          </a:p>
          <a:p>
            <a:pPr>
              <a:spcAft>
                <a:spcPts val="500"/>
              </a:spcAft>
              <a:defRPr sz="1600" b="0">
                <a:solidFill>
                  <a:srgbClr val="202020"/>
                </a:solidFill>
                <a:latin typeface="Arial"/>
              </a:defRPr>
            </a:pPr>
            <a:r>
              <a:t>Prepared from the church-supplied UX Scenario v4.4 template. Submission date is deliberately unclaimed until the publisher actually submits.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6510528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6528816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10176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2010-07-06T05:41:28Z</dcterms:created>
  <dc:creator>LG Apps</dc:creator>
  <dc:description/>
  <dc:language>en-US</dc:language>
  <cp:lastModifiedBy>권재이/선임/HE서비스운영팀(jaelee.kwon@lge.com)</cp:lastModifiedBy>
  <dcterms:modified xsi:type="dcterms:W3CDTF">2025-06-24T00:23:15Z</dcterms:modified>
  <cp:revision>676</cp:revision>
  <dc:subject/>
  <dc:title>[app title]description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ActionId">
    <vt:lpwstr>569b36b7-c850-41e2-8d6a-a6d7d9e6d1c6</vt:lpwstr>
  </property>
  <property fmtid="{D5CDD505-2E9C-101B-9397-08002B2CF9AE}" pid="3" name="MSIP_Label_cc6ed9fc-fefc-4a0c-a6d6-10cf236c0d4f_ContentBits">
    <vt:lpwstr>1</vt:lpwstr>
  </property>
  <property fmtid="{D5CDD505-2E9C-101B-9397-08002B2CF9AE}" pid="4" name="MSIP_Label_cc6ed9fc-fefc-4a0c-a6d6-10cf236c0d4f_Enabled">
    <vt:lpwstr>true</vt:lpwstr>
  </property>
  <property fmtid="{D5CDD505-2E9C-101B-9397-08002B2CF9AE}" pid="5" name="MSIP_Label_cc6ed9fc-fefc-4a0c-a6d6-10cf236c0d4f_Method">
    <vt:lpwstr>Standard</vt:lpwstr>
  </property>
  <property fmtid="{D5CDD505-2E9C-101B-9397-08002B2CF9AE}" pid="6" name="MSIP_Label_cc6ed9fc-fefc-4a0c-a6d6-10cf236c0d4f_Name">
    <vt:lpwstr>Internal use only</vt:lpwstr>
  </property>
  <property fmtid="{D5CDD505-2E9C-101B-9397-08002B2CF9AE}" pid="7" name="MSIP_Label_cc6ed9fc-fefc-4a0c-a6d6-10cf236c0d4f_SetDate">
    <vt:lpwstr>2025-06-24T00:22:46Z</vt:lpwstr>
  </property>
  <property fmtid="{D5CDD505-2E9C-101B-9397-08002B2CF9AE}" pid="8" name="MSIP_Label_cc6ed9fc-fefc-4a0c-a6d6-10cf236c0d4f_SiteId">
    <vt:lpwstr>5069cde4-642a-45c0-8094-d0c2dec10be3</vt:lpwstr>
  </property>
</Properties>
</file>